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sldIdLst>
    <p:sldId id="269" r:id="rId3"/>
    <p:sldId id="256" r:id="rId4"/>
    <p:sldId id="271" r:id="rId5"/>
    <p:sldId id="272" r:id="rId6"/>
    <p:sldId id="259" r:id="rId7"/>
    <p:sldId id="260" r:id="rId8"/>
    <p:sldId id="276" r:id="rId9"/>
    <p:sldId id="277" r:id="rId10"/>
    <p:sldId id="274" r:id="rId11"/>
    <p:sldId id="275" r:id="rId12"/>
    <p:sldId id="270" r:id="rId13"/>
    <p:sldId id="266" r:id="rId14"/>
    <p:sldId id="273" r:id="rId15"/>
    <p:sldId id="265" r:id="rId16"/>
  </p:sldIdLst>
  <p:sldSz cx="18288000" cy="10287000"/>
  <p:notesSz cx="6858000" cy="9144000"/>
  <p:embeddedFontLst>
    <p:embeddedFont>
      <p:font typeface="Algerian" panose="04020705040A02060702" pitchFamily="82" charset="0"/>
      <p:regular r:id="rId17"/>
    </p:embeddedFont>
    <p:embeddedFont>
      <p:font typeface="Bricolage Grotesque Bold" panose="020B0604020202020204" charset="0"/>
      <p:regular r:id="rId18"/>
    </p:embeddedFont>
    <p:embeddedFont>
      <p:font typeface="Calisto MT" panose="02040603050505030304" pitchFamily="18" charset="0"/>
      <p:regular r:id="rId19"/>
      <p:bold r:id="rId20"/>
      <p:italic r:id="rId21"/>
      <p:boldItalic r:id="rId22"/>
    </p:embeddedFont>
    <p:embeddedFont>
      <p:font typeface="Rubik One" panose="020B0604020202020204" charset="-79"/>
      <p:regular r:id="rId23"/>
    </p:embeddedFont>
    <p:embeddedFont>
      <p:font typeface="Wingdings 2" panose="05020102010507070707" pitchFamily="18" charset="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9F9"/>
    <a:srgbClr val="EDF6F9"/>
    <a:srgbClr val="99FF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22" autoAdjust="0"/>
  </p:normalViewPr>
  <p:slideViewPr>
    <p:cSldViewPr>
      <p:cViewPr varScale="1">
        <p:scale>
          <a:sx n="41" d="100"/>
          <a:sy n="41" d="100"/>
        </p:scale>
        <p:origin x="83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13FC-8CDA-0105-378C-D196B6876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91AFAA-1035-738A-CA45-6CAE47AD5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5D1C2-141F-6893-DB0C-38E42411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4271A-C276-76AC-1964-0CDFDD74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29118-D99B-EDAA-50B4-E28FCED7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6677-C486-8FD6-EE54-44D80ED1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CAEC-54F8-6355-1E7B-62A4CC2F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EB9BD-A9ED-2CCE-80AD-E37C09D4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05C1-1FD0-1298-7EB3-3F1C7F82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88368-A6EC-4DAD-8019-F7028C52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9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99E4-BCA7-DEEC-A484-1D689549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DB36C-8133-23E5-8864-B45E2A3F1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C2AE3-60F0-9144-FE54-93C6E025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C9BEF-43AE-CC99-A6E6-F7318DCA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BD9DB-25F6-CF64-1368-324CC7F7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9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5127-D737-1008-D86D-FBE42AB3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E2310-0E0C-447B-F77B-6D229B638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9ABE7-5D95-9DF9-B513-E14B5BE84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5C21D-EE0B-BAFC-69B4-44C37538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D2D29-61CF-B9B7-3D85-BA64E406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1D5D6-5592-88CF-176C-543A02E9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6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BF27-2169-687D-E702-28D26131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44579-5383-8DBF-902A-D6DDD2BB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3303E-5C48-BFA4-314B-E86C73788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73394-D523-315B-C38A-57D33A08C4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44739-FC4A-A0D2-A270-635637CEE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2CB19-5B0A-C21A-81E5-2AF9A770F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6F3E7-2CC0-5217-C6AD-4CE5428F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747D2-CDF8-DBD5-663C-B54B7040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4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8216-B5C0-1857-22D1-929793BA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8B258-3F71-9E50-E0E8-95756C41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41208-7D8A-5AD1-A805-5CEF1D17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E801D-0121-3FC2-DC19-16DE4E3F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5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27348-071C-6DE4-95D8-1EEE46B0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17AC6-909B-C1CC-9FA7-51AA251E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A1AC-483F-BC67-90EC-B2616116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B8C2-977C-8C97-763E-9E9CD540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4B74-84F4-3B28-62E9-D555ED6F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8D7A-BBA0-AFEA-C3C6-935D430EC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A6AE0-2DFD-F458-2C4D-342BBCC5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E70A-838D-B6B3-3CAE-3D760E59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21CF3-873A-30A8-812E-8151E753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6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B249-2DB7-9E32-4999-F5B05B51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CA0EE-B9D6-38A4-186F-814687233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F90BB-3BC2-3104-4DAC-CCA7A3834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50A68-09B5-9A66-901F-44E18C8E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8F809-53F9-A7BB-700A-E6D8BD6D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CB006-6058-168D-954B-02B58451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3C53-0BA6-9A94-4AEB-597B8942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F9182-4B08-400D-CC97-E66A88484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922CA-EB36-503F-52D3-3984430A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3ABA-8435-227D-BA25-658F8C1F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E795-534A-4A37-D568-3FFBDDB7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7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AE250-B463-D129-E7F3-156CF1AC3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9CD60-25B2-C446-D373-09E0A9488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7D3A3-37E4-8D86-03E2-F968BD91D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7CDB0-9E7F-8781-8011-58E7B378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EF42-E098-9AA1-7659-97FFE9DC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6040" y="2654311"/>
            <a:ext cx="14160051" cy="2743202"/>
          </a:xfrm>
        </p:spPr>
        <p:txBody>
          <a:bodyPr anchor="b">
            <a:normAutofit/>
          </a:bodyPr>
          <a:lstStyle>
            <a:lvl1pPr algn="ctr"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6040" y="5397509"/>
            <a:ext cx="14160051" cy="1574801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4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68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2" y="2641601"/>
            <a:ext cx="14385825" cy="2743220"/>
          </a:xfrm>
        </p:spPr>
        <p:txBody>
          <a:bodyPr anchor="b"/>
          <a:lstStyle>
            <a:lvl1pPr algn="ct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2" y="5384819"/>
            <a:ext cx="14385825" cy="2260581"/>
          </a:xfrm>
        </p:spPr>
        <p:txBody>
          <a:bodyPr anchor="t"/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36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693" y="2598674"/>
            <a:ext cx="7590746" cy="608812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4339" y="2598674"/>
            <a:ext cx="7596998" cy="608812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37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93" y="2601760"/>
            <a:ext cx="7633608" cy="6223154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728" y="2601760"/>
            <a:ext cx="7633608" cy="62231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808" y="2752881"/>
            <a:ext cx="7314516" cy="817326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8808" y="3570206"/>
            <a:ext cx="7314516" cy="5116595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42451" y="2752882"/>
            <a:ext cx="7342995" cy="817325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42451" y="3570206"/>
            <a:ext cx="7342995" cy="5116595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48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00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60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400"/>
            <a:ext cx="5560334" cy="273287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3450" y="914400"/>
            <a:ext cx="9617886" cy="7772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3647277"/>
            <a:ext cx="5560334" cy="5039522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954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498" y="914400"/>
            <a:ext cx="5376249" cy="78072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885"/>
            <a:ext cx="8902424" cy="2744007"/>
          </a:xfrm>
        </p:spPr>
        <p:txBody>
          <a:bodyPr anchor="b">
            <a:noAutofit/>
          </a:bodyPr>
          <a:lstStyle>
            <a:lvl1pPr algn="ctr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63827" y="1145553"/>
            <a:ext cx="4913627" cy="736923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3658891"/>
            <a:ext cx="8902424" cy="5064201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04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25" y="821711"/>
            <a:ext cx="15212699" cy="57252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709" y="6847883"/>
            <a:ext cx="15532989" cy="815208"/>
          </a:xfrm>
        </p:spPr>
        <p:txBody>
          <a:bodyPr anchor="b">
            <a:normAutofit/>
          </a:bodyPr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54024" y="1042514"/>
            <a:ext cx="14768019" cy="528850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000"/>
            </a:lvl1pPr>
            <a:lvl2pPr marL="685800" indent="0">
              <a:buNone/>
              <a:defRPr sz="3000"/>
            </a:lvl2pPr>
            <a:lvl3pPr marL="1371600" indent="0">
              <a:buNone/>
              <a:defRPr sz="30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7663092"/>
            <a:ext cx="15530643" cy="1023708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77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2656"/>
            <a:ext cx="15530643" cy="530151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6442770"/>
            <a:ext cx="15530645" cy="225273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147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400"/>
            <a:ext cx="13954128" cy="448935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415049"/>
            <a:ext cx="13128449" cy="79912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6456530"/>
            <a:ext cx="15530645" cy="22342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485900" y="132719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57074" y="439238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9716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2" y="3190414"/>
            <a:ext cx="15530645" cy="376775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77" y="6975834"/>
            <a:ext cx="15528299" cy="1710966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309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70693" y="914400"/>
            <a:ext cx="15530643" cy="1455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70693" y="2828925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70693" y="3857625"/>
            <a:ext cx="4951476" cy="4829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0067" y="2828925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662153" y="3857625"/>
            <a:ext cx="4951476" cy="4829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49858" y="2828925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949858" y="3857625"/>
            <a:ext cx="4951476" cy="4829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4177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43" y="2727322"/>
            <a:ext cx="5009958" cy="2771777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700" y="2727322"/>
            <a:ext cx="5009958" cy="2771777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077" y="2727322"/>
            <a:ext cx="5009958" cy="2771777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70692" y="914400"/>
            <a:ext cx="15530645" cy="1455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70693" y="5856159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527153" y="2908377"/>
            <a:ext cx="4638552" cy="240443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70693" y="6720553"/>
            <a:ext cx="4951476" cy="196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4182" y="5856159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818615" y="2908641"/>
            <a:ext cx="4638552" cy="241224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62153" y="6720551"/>
            <a:ext cx="4951476" cy="196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0046" y="5856159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113547" y="2901648"/>
            <a:ext cx="4638552" cy="241094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49858" y="6720548"/>
            <a:ext cx="4951476" cy="1966253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994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427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474603" y="914399"/>
            <a:ext cx="3426731" cy="77724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694" y="914399"/>
            <a:ext cx="11875308" cy="777240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07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91B7F-D1F1-8141-B55E-BCD9B576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F1B28-CCF7-F014-7123-417000B61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3E5B-23AB-6D7C-8271-E53B0D7B2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BA7CE-C542-40DB-CC47-01F419B59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717D1-86C9-CB2C-A937-17202BB25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0693" y="914400"/>
            <a:ext cx="15530643" cy="14556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93" y="2598674"/>
            <a:ext cx="15530643" cy="60881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386F94B-5CDA-44EA-89C3-CD315C569C9C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0693" y="8824913"/>
            <a:ext cx="1000929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482383-95DE-492C-8BB1-59AD7D12E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4342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685800" rtl="0" eaLnBrk="1" latinLnBrk="0" hangingPunct="1">
        <a:spcBef>
          <a:spcPct val="0"/>
        </a:spcBef>
        <a:buNone/>
        <a:defRPr sz="6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459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1080000" indent="-405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"/>
        <a:defRPr sz="2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539000" indent="-324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2079000" indent="-324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2511000" indent="-324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302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3602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418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465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8;p1">
            <a:extLst>
              <a:ext uri="{FF2B5EF4-FFF2-40B4-BE49-F238E27FC236}">
                <a16:creationId xmlns:a16="http://schemas.microsoft.com/office/drawing/2014/main" id="{8E3F91D9-085E-7220-37DB-FE0C9786E7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77" y="0"/>
            <a:ext cx="18286223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E7CCB3-524D-8F18-E662-C2B0C238B981}"/>
              </a:ext>
            </a:extLst>
          </p:cNvPr>
          <p:cNvSpPr txBox="1"/>
          <p:nvPr/>
        </p:nvSpPr>
        <p:spPr>
          <a:xfrm>
            <a:off x="9944101" y="8393596"/>
            <a:ext cx="682818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BODDU SHIREESHA</a:t>
            </a:r>
          </a:p>
          <a:p>
            <a:pPr defTabSz="685800"/>
            <a:r>
              <a:rPr 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NO:456</a:t>
            </a:r>
          </a:p>
          <a:p>
            <a:pPr defTabSz="685800"/>
            <a:r>
              <a:rPr lang="en-US" sz="2700" b="1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Innomatics Research Labs, Dilshuknagar</a:t>
            </a:r>
            <a:endParaRPr lang="en-IN" sz="2700" b="1" dirty="0">
              <a:solidFill>
                <a:prstClr val="black">
                  <a:lumMod val="95000"/>
                  <a:lumOff val="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24B2F-E43B-F50D-02E7-A2AC764FE4B5}"/>
              </a:ext>
            </a:extLst>
          </p:cNvPr>
          <p:cNvSpPr txBox="1"/>
          <p:nvPr/>
        </p:nvSpPr>
        <p:spPr>
          <a:xfrm>
            <a:off x="0" y="5753100"/>
            <a:ext cx="1889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6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EV Sales 2010 - 2024</a:t>
            </a:r>
            <a:endParaRPr lang="en-IN" sz="6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3287838-AC76-21EC-9CB0-C43DA08CE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6697606-6F32-0163-F9B6-0CBF450F0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430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78204" y="5058500"/>
            <a:ext cx="9076504" cy="5774926"/>
          </a:xfrm>
          <a:custGeom>
            <a:avLst/>
            <a:gdLst/>
            <a:ahLst/>
            <a:cxnLst/>
            <a:rect l="l" t="t" r="r" b="b"/>
            <a:pathLst>
              <a:path w="9076504" h="5774926">
                <a:moveTo>
                  <a:pt x="0" y="0"/>
                </a:moveTo>
                <a:lnTo>
                  <a:pt x="9076504" y="0"/>
                </a:lnTo>
                <a:lnTo>
                  <a:pt x="9076504" y="5774925"/>
                </a:lnTo>
                <a:lnTo>
                  <a:pt x="0" y="577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864736" y="808478"/>
            <a:ext cx="4583015" cy="8032825"/>
            <a:chOff x="0" y="0"/>
            <a:chExt cx="1183774" cy="20748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83774" cy="2074846"/>
            </a:xfrm>
            <a:custGeom>
              <a:avLst/>
              <a:gdLst/>
              <a:ahLst/>
              <a:cxnLst/>
              <a:rect l="l" t="t" r="r" b="b"/>
              <a:pathLst>
                <a:path w="1183774" h="2074846">
                  <a:moveTo>
                    <a:pt x="101356" y="0"/>
                  </a:moveTo>
                  <a:lnTo>
                    <a:pt x="1082418" y="0"/>
                  </a:lnTo>
                  <a:cubicBezTo>
                    <a:pt x="1138396" y="0"/>
                    <a:pt x="1183774" y="45379"/>
                    <a:pt x="1183774" y="101356"/>
                  </a:cubicBezTo>
                  <a:lnTo>
                    <a:pt x="1183774" y="1973490"/>
                  </a:lnTo>
                  <a:cubicBezTo>
                    <a:pt x="1183774" y="2029467"/>
                    <a:pt x="1138396" y="2074846"/>
                    <a:pt x="1082418" y="2074846"/>
                  </a:cubicBezTo>
                  <a:lnTo>
                    <a:pt x="101356" y="2074846"/>
                  </a:lnTo>
                  <a:cubicBezTo>
                    <a:pt x="74475" y="2074846"/>
                    <a:pt x="48694" y="2064167"/>
                    <a:pt x="29686" y="2045160"/>
                  </a:cubicBezTo>
                  <a:cubicBezTo>
                    <a:pt x="10679" y="2026152"/>
                    <a:pt x="0" y="2000372"/>
                    <a:pt x="0" y="1973490"/>
                  </a:cubicBezTo>
                  <a:lnTo>
                    <a:pt x="0" y="101356"/>
                  </a:lnTo>
                  <a:cubicBezTo>
                    <a:pt x="0" y="45379"/>
                    <a:pt x="45379" y="0"/>
                    <a:pt x="1013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B58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83774" cy="2112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92000" y="943700"/>
            <a:ext cx="5329489" cy="8229600"/>
            <a:chOff x="0" y="0"/>
            <a:chExt cx="411226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12260" cy="6350000"/>
            </a:xfrm>
            <a:custGeom>
              <a:avLst/>
              <a:gdLst/>
              <a:ahLst/>
              <a:cxnLst/>
              <a:rect l="l" t="t" r="r" b="b"/>
              <a:pathLst>
                <a:path w="4112260" h="6350000">
                  <a:moveTo>
                    <a:pt x="4112260" y="623570"/>
                  </a:moveTo>
                  <a:lnTo>
                    <a:pt x="4112260" y="2641600"/>
                  </a:lnTo>
                  <a:cubicBezTo>
                    <a:pt x="4112260" y="2821940"/>
                    <a:pt x="4033520" y="2993390"/>
                    <a:pt x="3897630" y="3112770"/>
                  </a:cubicBezTo>
                  <a:cubicBezTo>
                    <a:pt x="3761740" y="3230880"/>
                    <a:pt x="3683000" y="3402330"/>
                    <a:pt x="3683000" y="3583940"/>
                  </a:cubicBezTo>
                  <a:lnTo>
                    <a:pt x="3683000" y="5726430"/>
                  </a:lnTo>
                  <a:cubicBezTo>
                    <a:pt x="3683000" y="6070600"/>
                    <a:pt x="3403600" y="6350000"/>
                    <a:pt x="3059430" y="6350000"/>
                  </a:cubicBezTo>
                  <a:lnTo>
                    <a:pt x="623570" y="6350000"/>
                  </a:lnTo>
                  <a:cubicBezTo>
                    <a:pt x="279400" y="6350000"/>
                    <a:pt x="0" y="6070600"/>
                    <a:pt x="0" y="5726430"/>
                  </a:cubicBezTo>
                  <a:lnTo>
                    <a:pt x="0" y="623570"/>
                  </a:lnTo>
                  <a:cubicBezTo>
                    <a:pt x="0" y="279400"/>
                    <a:pt x="279400" y="0"/>
                    <a:pt x="623570" y="0"/>
                  </a:cubicBezTo>
                  <a:lnTo>
                    <a:pt x="3489960" y="0"/>
                  </a:lnTo>
                  <a:cubicBezTo>
                    <a:pt x="3834130" y="0"/>
                    <a:pt x="4112260" y="279400"/>
                    <a:pt x="4112260" y="623570"/>
                  </a:cubicBezTo>
                  <a:close/>
                </a:path>
              </a:pathLst>
            </a:custGeom>
            <a:blipFill>
              <a:blip r:embed="rId3"/>
              <a:stretch>
                <a:fillRect l="-103053" t="-10822" r="-5379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15622984" y="6662364"/>
            <a:ext cx="3444583" cy="352427"/>
            <a:chOff x="0" y="0"/>
            <a:chExt cx="2588106" cy="264798"/>
          </a:xfrm>
        </p:grpSpPr>
        <p:sp>
          <p:nvSpPr>
            <p:cNvPr id="24" name="Freeform 24"/>
            <p:cNvSpPr/>
            <p:nvPr/>
          </p:nvSpPr>
          <p:spPr>
            <a:xfrm>
              <a:off x="34177" y="0"/>
              <a:ext cx="2519753" cy="264798"/>
            </a:xfrm>
            <a:custGeom>
              <a:avLst/>
              <a:gdLst/>
              <a:ahLst/>
              <a:cxnLst/>
              <a:rect l="l" t="t" r="r" b="b"/>
              <a:pathLst>
                <a:path w="2519753" h="264798">
                  <a:moveTo>
                    <a:pt x="2283303" y="0"/>
                  </a:moveTo>
                  <a:lnTo>
                    <a:pt x="33250" y="0"/>
                  </a:lnTo>
                  <a:cubicBezTo>
                    <a:pt x="20590" y="0"/>
                    <a:pt x="9028" y="7190"/>
                    <a:pt x="3429" y="18544"/>
                  </a:cubicBezTo>
                  <a:cubicBezTo>
                    <a:pt x="-2171" y="29899"/>
                    <a:pt x="-836" y="43448"/>
                    <a:pt x="6872" y="53492"/>
                  </a:cubicBezTo>
                  <a:lnTo>
                    <a:pt x="127974" y="211306"/>
                  </a:lnTo>
                  <a:cubicBezTo>
                    <a:pt x="153852" y="245029"/>
                    <a:pt x="193942" y="264798"/>
                    <a:pt x="236450" y="264798"/>
                  </a:cubicBezTo>
                  <a:lnTo>
                    <a:pt x="2486503" y="264798"/>
                  </a:lnTo>
                  <a:cubicBezTo>
                    <a:pt x="2499163" y="264798"/>
                    <a:pt x="2510725" y="257608"/>
                    <a:pt x="2516324" y="246254"/>
                  </a:cubicBezTo>
                  <a:cubicBezTo>
                    <a:pt x="2521923" y="234899"/>
                    <a:pt x="2520588" y="221350"/>
                    <a:pt x="2512881" y="211306"/>
                  </a:cubicBezTo>
                  <a:lnTo>
                    <a:pt x="2391778" y="53492"/>
                  </a:lnTo>
                  <a:cubicBezTo>
                    <a:pt x="2365900" y="19769"/>
                    <a:pt x="2325810" y="0"/>
                    <a:pt x="2283303" y="0"/>
                  </a:cubicBezTo>
                  <a:close/>
                </a:path>
              </a:pathLst>
            </a:custGeom>
            <a:solidFill>
              <a:srgbClr val="00B5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2384906" cy="302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D11FA2B-C0BB-58F7-100A-4E3D5986FD02}"/>
              </a:ext>
            </a:extLst>
          </p:cNvPr>
          <p:cNvSpPr txBox="1"/>
          <p:nvPr/>
        </p:nvSpPr>
        <p:spPr>
          <a:xfrm>
            <a:off x="304800" y="550986"/>
            <a:ext cx="8230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B050"/>
                </a:solidFill>
                <a:latin typeface="Algerian" panose="04020705040A02060702" pitchFamily="82" charset="0"/>
              </a:rPr>
              <a:t>Agenda</a:t>
            </a:r>
            <a:endParaRPr lang="en-IN" sz="7200" b="1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C355C2-17DF-ECB9-696D-B6E6DA60869B}"/>
              </a:ext>
            </a:extLst>
          </p:cNvPr>
          <p:cNvSpPr txBox="1"/>
          <p:nvPr/>
        </p:nvSpPr>
        <p:spPr>
          <a:xfrm>
            <a:off x="323440" y="342900"/>
            <a:ext cx="7781514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category trends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Powertrain and mode insights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and unit analysis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Comparitive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FB58AA-3B80-4881-98AC-2E9FFDF72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848" y="9456027"/>
            <a:ext cx="7206502" cy="61189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EDBEE6-909B-3144-1E1F-8F5AE3ED6BB8}"/>
              </a:ext>
            </a:extLst>
          </p:cNvPr>
          <p:cNvSpPr txBox="1"/>
          <p:nvPr/>
        </p:nvSpPr>
        <p:spPr>
          <a:xfrm>
            <a:off x="381000" y="266700"/>
            <a:ext cx="17526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0B050"/>
                </a:solidFill>
                <a:latin typeface="Algerian" panose="04020705040A02060702" pitchFamily="82" charset="0"/>
              </a:rPr>
              <a:t>introduction</a:t>
            </a:r>
            <a:endParaRPr lang="en-IN" sz="60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117FB-DF44-933F-5199-AB0F6360231B}"/>
              </a:ext>
            </a:extLst>
          </p:cNvPr>
          <p:cNvSpPr txBox="1"/>
          <p:nvPr/>
        </p:nvSpPr>
        <p:spPr>
          <a:xfrm>
            <a:off x="685800" y="1307930"/>
            <a:ext cx="16992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Electric vehicles are becoming increasingly important due to climate change and fuel sustainability concerns.</a:t>
            </a:r>
            <a:br>
              <a:rPr lang="en-US" sz="5400" dirty="0"/>
            </a:br>
            <a:r>
              <a:rPr lang="en-US" sz="5400" dirty="0"/>
              <a:t>Governments and industries worldwide are promoting EV adoption.</a:t>
            </a:r>
            <a:br>
              <a:rPr lang="en-US" sz="5400" dirty="0"/>
            </a:br>
            <a:r>
              <a:rPr lang="en-US" sz="5400" dirty="0"/>
              <a:t>This project focuses on understanding these adoption trends using real-world global data.</a:t>
            </a:r>
            <a:endParaRPr lang="en-IN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A41BD-6FAF-D5A2-3679-6F76923BF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9029699"/>
            <a:ext cx="65341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6278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46F8A-D9D5-C5C4-3F92-6CD128621154}"/>
              </a:ext>
            </a:extLst>
          </p:cNvPr>
          <p:cNvSpPr txBox="1"/>
          <p:nvPr/>
        </p:nvSpPr>
        <p:spPr>
          <a:xfrm>
            <a:off x="114300" y="342900"/>
            <a:ext cx="18021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00B050"/>
                </a:solidFill>
                <a:latin typeface="Algerian" panose="04020705040A02060702" pitchFamily="82" charset="0"/>
              </a:rPr>
              <a:t>Business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E9353-D34E-E3FD-9D43-BA0970ED76AF}"/>
              </a:ext>
            </a:extLst>
          </p:cNvPr>
          <p:cNvSpPr txBox="1"/>
          <p:nvPr/>
        </p:nvSpPr>
        <p:spPr>
          <a:xfrm>
            <a:off x="457200" y="1358563"/>
            <a:ext cx="173736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5400" dirty="0"/>
              <a:t>Global transport systems contribute significantly to </a:t>
            </a:r>
            <a:r>
              <a:rPr lang="en-US" sz="5400" b="1" dirty="0"/>
              <a:t>energy use and emissions.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5400" b="1" dirty="0"/>
              <a:t>Electrification varies widely</a:t>
            </a:r>
            <a:r>
              <a:rPr lang="en-US" sz="5400" dirty="0"/>
              <a:t> across transport modes, with road and rail progressing faster than marine and aviation.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5400" dirty="0"/>
              <a:t>There is a need to </a:t>
            </a:r>
            <a:r>
              <a:rPr lang="en-US" sz="5400" b="1" dirty="0"/>
              <a:t>expand cleaner powertrain adoption</a:t>
            </a:r>
            <a:r>
              <a:rPr lang="en-US" sz="5400" dirty="0"/>
              <a:t> across all transport modes to reduce emissions and improve sustainability.</a:t>
            </a:r>
          </a:p>
          <a:p>
            <a:endParaRPr lang="en-IN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320EF-982F-9975-A89C-2841462A6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9029699"/>
            <a:ext cx="65341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0439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320A3065-0699-0268-F13D-702B68A37BAB}"/>
              </a:ext>
            </a:extLst>
          </p:cNvPr>
          <p:cNvSpPr txBox="1"/>
          <p:nvPr/>
        </p:nvSpPr>
        <p:spPr>
          <a:xfrm>
            <a:off x="609600" y="219076"/>
            <a:ext cx="15887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00B050"/>
                </a:solidFill>
                <a:latin typeface="Algerian" panose="04020705040A02060702" pitchFamily="82" charset="0"/>
              </a:rPr>
              <a:t>Project Objectives</a:t>
            </a:r>
            <a:endParaRPr lang="en-IN" sz="72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E58180-CF01-DE98-8071-FF692F6E595A}"/>
              </a:ext>
            </a:extLst>
          </p:cNvPr>
          <p:cNvSpPr txBox="1"/>
          <p:nvPr/>
        </p:nvSpPr>
        <p:spPr>
          <a:xfrm>
            <a:off x="876300" y="1333500"/>
            <a:ext cx="163449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800" dirty="0"/>
              <a:t>Analyze year-wise growth in global EV sales and stock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800" dirty="0"/>
              <a:t>Identify top regions and countries driving EV adoption.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800" dirty="0"/>
              <a:t>Compare EV adoption across vehicle categories and transport modes.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800" dirty="0"/>
              <a:t>Evaluate changes in powertrain usage (BEV, PHEV, etc.) over time.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800" dirty="0"/>
              <a:t>Highlight emerging trends to support business and policy decision-making.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800" dirty="0"/>
              <a:t>Develop an interactive dashboard for easy trend monitoring and insights</a:t>
            </a:r>
            <a:r>
              <a:rPr lang="en-US" sz="5400" dirty="0"/>
              <a:t>.</a:t>
            </a:r>
            <a:endParaRPr lang="en-IN" sz="5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39228E-AF5D-6256-5904-E61D88969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848" y="9182100"/>
            <a:ext cx="7206502" cy="88582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>
            <a:off x="2708944" y="6500553"/>
            <a:ext cx="4397454" cy="779676"/>
            <a:chOff x="0" y="0"/>
            <a:chExt cx="2247191" cy="398431"/>
          </a:xfrm>
        </p:grpSpPr>
        <p:sp>
          <p:nvSpPr>
            <p:cNvPr id="27" name="Freeform 27"/>
            <p:cNvSpPr/>
            <p:nvPr/>
          </p:nvSpPr>
          <p:spPr>
            <a:xfrm>
              <a:off x="10232" y="0"/>
              <a:ext cx="2226727" cy="398431"/>
            </a:xfrm>
            <a:custGeom>
              <a:avLst/>
              <a:gdLst/>
              <a:ahLst/>
              <a:cxnLst/>
              <a:rect l="l" t="t" r="r" b="b"/>
              <a:pathLst>
                <a:path w="2226727" h="398431">
                  <a:moveTo>
                    <a:pt x="219376" y="0"/>
                  </a:moveTo>
                  <a:lnTo>
                    <a:pt x="2210551" y="0"/>
                  </a:lnTo>
                  <a:cubicBezTo>
                    <a:pt x="2216180" y="0"/>
                    <a:pt x="2221405" y="2926"/>
                    <a:pt x="2224345" y="7727"/>
                  </a:cubicBezTo>
                  <a:cubicBezTo>
                    <a:pt x="2227285" y="12527"/>
                    <a:pt x="2227519" y="18511"/>
                    <a:pt x="2224961" y="23525"/>
                  </a:cubicBezTo>
                  <a:lnTo>
                    <a:pt x="2045757" y="374905"/>
                  </a:lnTo>
                  <a:cubicBezTo>
                    <a:pt x="2038394" y="389342"/>
                    <a:pt x="2023557" y="398431"/>
                    <a:pt x="2007351" y="398431"/>
                  </a:cubicBezTo>
                  <a:lnTo>
                    <a:pt x="16176" y="398431"/>
                  </a:lnTo>
                  <a:cubicBezTo>
                    <a:pt x="10547" y="398431"/>
                    <a:pt x="5323" y="395504"/>
                    <a:pt x="2382" y="390704"/>
                  </a:cubicBezTo>
                  <a:cubicBezTo>
                    <a:pt x="-558" y="385904"/>
                    <a:pt x="-792" y="379920"/>
                    <a:pt x="1766" y="374905"/>
                  </a:cubicBezTo>
                  <a:lnTo>
                    <a:pt x="180970" y="23525"/>
                  </a:lnTo>
                  <a:cubicBezTo>
                    <a:pt x="188333" y="9088"/>
                    <a:pt x="203170" y="0"/>
                    <a:pt x="219376" y="0"/>
                  </a:cubicBezTo>
                  <a:close/>
                </a:path>
              </a:pathLst>
            </a:custGeom>
            <a:solidFill>
              <a:srgbClr val="EDF6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600" y="-38100"/>
              <a:ext cx="2043991" cy="43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58898" y="3600164"/>
            <a:ext cx="4397454" cy="779676"/>
            <a:chOff x="0" y="0"/>
            <a:chExt cx="2247191" cy="398431"/>
          </a:xfrm>
        </p:grpSpPr>
        <p:sp>
          <p:nvSpPr>
            <p:cNvPr id="30" name="Freeform 30"/>
            <p:cNvSpPr/>
            <p:nvPr/>
          </p:nvSpPr>
          <p:spPr>
            <a:xfrm>
              <a:off x="10232" y="0"/>
              <a:ext cx="2226727" cy="398431"/>
            </a:xfrm>
            <a:custGeom>
              <a:avLst/>
              <a:gdLst/>
              <a:ahLst/>
              <a:cxnLst/>
              <a:rect l="l" t="t" r="r" b="b"/>
              <a:pathLst>
                <a:path w="2226727" h="398431">
                  <a:moveTo>
                    <a:pt x="219376" y="0"/>
                  </a:moveTo>
                  <a:lnTo>
                    <a:pt x="2210551" y="0"/>
                  </a:lnTo>
                  <a:cubicBezTo>
                    <a:pt x="2216180" y="0"/>
                    <a:pt x="2221405" y="2926"/>
                    <a:pt x="2224345" y="7727"/>
                  </a:cubicBezTo>
                  <a:cubicBezTo>
                    <a:pt x="2227285" y="12527"/>
                    <a:pt x="2227519" y="18511"/>
                    <a:pt x="2224961" y="23525"/>
                  </a:cubicBezTo>
                  <a:lnTo>
                    <a:pt x="2045757" y="374905"/>
                  </a:lnTo>
                  <a:cubicBezTo>
                    <a:pt x="2038394" y="389342"/>
                    <a:pt x="2023557" y="398431"/>
                    <a:pt x="2007351" y="398431"/>
                  </a:cubicBezTo>
                  <a:lnTo>
                    <a:pt x="16176" y="398431"/>
                  </a:lnTo>
                  <a:cubicBezTo>
                    <a:pt x="10547" y="398431"/>
                    <a:pt x="5323" y="395504"/>
                    <a:pt x="2382" y="390704"/>
                  </a:cubicBezTo>
                  <a:cubicBezTo>
                    <a:pt x="-558" y="385904"/>
                    <a:pt x="-792" y="379920"/>
                    <a:pt x="1766" y="374905"/>
                  </a:cubicBezTo>
                  <a:lnTo>
                    <a:pt x="180970" y="23525"/>
                  </a:lnTo>
                  <a:cubicBezTo>
                    <a:pt x="188333" y="9088"/>
                    <a:pt x="203170" y="0"/>
                    <a:pt x="219376" y="0"/>
                  </a:cubicBezTo>
                  <a:close/>
                </a:path>
              </a:pathLst>
            </a:custGeom>
            <a:solidFill>
              <a:srgbClr val="EDF6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600" y="-38100"/>
              <a:ext cx="2043991" cy="43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58898" y="6500553"/>
            <a:ext cx="4397454" cy="779676"/>
            <a:chOff x="0" y="0"/>
            <a:chExt cx="2247191" cy="398431"/>
          </a:xfrm>
        </p:grpSpPr>
        <p:sp>
          <p:nvSpPr>
            <p:cNvPr id="33" name="Freeform 33"/>
            <p:cNvSpPr/>
            <p:nvPr/>
          </p:nvSpPr>
          <p:spPr>
            <a:xfrm>
              <a:off x="10232" y="0"/>
              <a:ext cx="2226727" cy="398431"/>
            </a:xfrm>
            <a:custGeom>
              <a:avLst/>
              <a:gdLst/>
              <a:ahLst/>
              <a:cxnLst/>
              <a:rect l="l" t="t" r="r" b="b"/>
              <a:pathLst>
                <a:path w="2226727" h="398431">
                  <a:moveTo>
                    <a:pt x="219376" y="0"/>
                  </a:moveTo>
                  <a:lnTo>
                    <a:pt x="2210551" y="0"/>
                  </a:lnTo>
                  <a:cubicBezTo>
                    <a:pt x="2216180" y="0"/>
                    <a:pt x="2221405" y="2926"/>
                    <a:pt x="2224345" y="7727"/>
                  </a:cubicBezTo>
                  <a:cubicBezTo>
                    <a:pt x="2227285" y="12527"/>
                    <a:pt x="2227519" y="18511"/>
                    <a:pt x="2224961" y="23525"/>
                  </a:cubicBezTo>
                  <a:lnTo>
                    <a:pt x="2045757" y="374905"/>
                  </a:lnTo>
                  <a:cubicBezTo>
                    <a:pt x="2038394" y="389342"/>
                    <a:pt x="2023557" y="398431"/>
                    <a:pt x="2007351" y="398431"/>
                  </a:cubicBezTo>
                  <a:lnTo>
                    <a:pt x="16176" y="398431"/>
                  </a:lnTo>
                  <a:cubicBezTo>
                    <a:pt x="10547" y="398431"/>
                    <a:pt x="5323" y="395504"/>
                    <a:pt x="2382" y="390704"/>
                  </a:cubicBezTo>
                  <a:cubicBezTo>
                    <a:pt x="-558" y="385904"/>
                    <a:pt x="-792" y="379920"/>
                    <a:pt x="1766" y="374905"/>
                  </a:cubicBezTo>
                  <a:lnTo>
                    <a:pt x="180970" y="23525"/>
                  </a:lnTo>
                  <a:cubicBezTo>
                    <a:pt x="188333" y="9088"/>
                    <a:pt x="203170" y="0"/>
                    <a:pt x="219376" y="0"/>
                  </a:cubicBezTo>
                  <a:close/>
                </a:path>
              </a:pathLst>
            </a:custGeom>
            <a:solidFill>
              <a:srgbClr val="EDF6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600" y="-38100"/>
              <a:ext cx="2043991" cy="43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81078" y="3600164"/>
            <a:ext cx="4397454" cy="779676"/>
            <a:chOff x="0" y="0"/>
            <a:chExt cx="2247191" cy="398431"/>
          </a:xfrm>
        </p:grpSpPr>
        <p:sp>
          <p:nvSpPr>
            <p:cNvPr id="36" name="Freeform 36"/>
            <p:cNvSpPr/>
            <p:nvPr/>
          </p:nvSpPr>
          <p:spPr>
            <a:xfrm>
              <a:off x="10232" y="0"/>
              <a:ext cx="2226727" cy="398431"/>
            </a:xfrm>
            <a:custGeom>
              <a:avLst/>
              <a:gdLst/>
              <a:ahLst/>
              <a:cxnLst/>
              <a:rect l="l" t="t" r="r" b="b"/>
              <a:pathLst>
                <a:path w="2226727" h="398431">
                  <a:moveTo>
                    <a:pt x="219376" y="0"/>
                  </a:moveTo>
                  <a:lnTo>
                    <a:pt x="2210551" y="0"/>
                  </a:lnTo>
                  <a:cubicBezTo>
                    <a:pt x="2216180" y="0"/>
                    <a:pt x="2221405" y="2926"/>
                    <a:pt x="2224345" y="7727"/>
                  </a:cubicBezTo>
                  <a:cubicBezTo>
                    <a:pt x="2227285" y="12527"/>
                    <a:pt x="2227519" y="18511"/>
                    <a:pt x="2224961" y="23525"/>
                  </a:cubicBezTo>
                  <a:lnTo>
                    <a:pt x="2045757" y="374905"/>
                  </a:lnTo>
                  <a:cubicBezTo>
                    <a:pt x="2038394" y="389342"/>
                    <a:pt x="2023557" y="398431"/>
                    <a:pt x="2007351" y="398431"/>
                  </a:cubicBezTo>
                  <a:lnTo>
                    <a:pt x="16176" y="398431"/>
                  </a:lnTo>
                  <a:cubicBezTo>
                    <a:pt x="10547" y="398431"/>
                    <a:pt x="5323" y="395504"/>
                    <a:pt x="2382" y="390704"/>
                  </a:cubicBezTo>
                  <a:cubicBezTo>
                    <a:pt x="-558" y="385904"/>
                    <a:pt x="-792" y="379920"/>
                    <a:pt x="1766" y="374905"/>
                  </a:cubicBezTo>
                  <a:lnTo>
                    <a:pt x="180970" y="23525"/>
                  </a:lnTo>
                  <a:cubicBezTo>
                    <a:pt x="188333" y="9088"/>
                    <a:pt x="203170" y="0"/>
                    <a:pt x="219376" y="0"/>
                  </a:cubicBezTo>
                  <a:close/>
                </a:path>
              </a:pathLst>
            </a:custGeom>
            <a:solidFill>
              <a:srgbClr val="EDF6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600" y="-38100"/>
              <a:ext cx="2043991" cy="43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381078" y="6500553"/>
            <a:ext cx="4397454" cy="779676"/>
            <a:chOff x="0" y="0"/>
            <a:chExt cx="2247191" cy="398431"/>
          </a:xfrm>
        </p:grpSpPr>
        <p:sp>
          <p:nvSpPr>
            <p:cNvPr id="39" name="Freeform 39"/>
            <p:cNvSpPr/>
            <p:nvPr/>
          </p:nvSpPr>
          <p:spPr>
            <a:xfrm>
              <a:off x="10232" y="0"/>
              <a:ext cx="2226727" cy="398431"/>
            </a:xfrm>
            <a:custGeom>
              <a:avLst/>
              <a:gdLst/>
              <a:ahLst/>
              <a:cxnLst/>
              <a:rect l="l" t="t" r="r" b="b"/>
              <a:pathLst>
                <a:path w="2226727" h="398431">
                  <a:moveTo>
                    <a:pt x="219376" y="0"/>
                  </a:moveTo>
                  <a:lnTo>
                    <a:pt x="2210551" y="0"/>
                  </a:lnTo>
                  <a:cubicBezTo>
                    <a:pt x="2216180" y="0"/>
                    <a:pt x="2221405" y="2926"/>
                    <a:pt x="2224345" y="7727"/>
                  </a:cubicBezTo>
                  <a:cubicBezTo>
                    <a:pt x="2227285" y="12527"/>
                    <a:pt x="2227519" y="18511"/>
                    <a:pt x="2224961" y="23525"/>
                  </a:cubicBezTo>
                  <a:lnTo>
                    <a:pt x="2045757" y="374905"/>
                  </a:lnTo>
                  <a:cubicBezTo>
                    <a:pt x="2038394" y="389342"/>
                    <a:pt x="2023557" y="398431"/>
                    <a:pt x="2007351" y="398431"/>
                  </a:cubicBezTo>
                  <a:lnTo>
                    <a:pt x="16176" y="398431"/>
                  </a:lnTo>
                  <a:cubicBezTo>
                    <a:pt x="10547" y="398431"/>
                    <a:pt x="5323" y="395504"/>
                    <a:pt x="2382" y="390704"/>
                  </a:cubicBezTo>
                  <a:cubicBezTo>
                    <a:pt x="-558" y="385904"/>
                    <a:pt x="-792" y="379920"/>
                    <a:pt x="1766" y="374905"/>
                  </a:cubicBezTo>
                  <a:lnTo>
                    <a:pt x="180970" y="23525"/>
                  </a:lnTo>
                  <a:cubicBezTo>
                    <a:pt x="188333" y="9088"/>
                    <a:pt x="203170" y="0"/>
                    <a:pt x="219376" y="0"/>
                  </a:cubicBezTo>
                  <a:close/>
                </a:path>
              </a:pathLst>
            </a:custGeom>
            <a:solidFill>
              <a:srgbClr val="EDF6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600" y="-38100"/>
              <a:ext cx="2043991" cy="43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C2600A5A-F46E-E1CE-C251-78619AA3CC0C}"/>
              </a:ext>
            </a:extLst>
          </p:cNvPr>
          <p:cNvSpPr txBox="1"/>
          <p:nvPr/>
        </p:nvSpPr>
        <p:spPr>
          <a:xfrm>
            <a:off x="914400" y="353679"/>
            <a:ext cx="15903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00B050"/>
                </a:solidFill>
                <a:latin typeface="Algerian" panose="04020705040A02060702" pitchFamily="82" charset="0"/>
              </a:rPr>
              <a:t>Data Description</a:t>
            </a:r>
            <a:endParaRPr lang="en-IN" sz="72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8662365-1E46-9FAF-6EA9-34CF07A70797}"/>
              </a:ext>
            </a:extLst>
          </p:cNvPr>
          <p:cNvSpPr txBox="1"/>
          <p:nvPr/>
        </p:nvSpPr>
        <p:spPr>
          <a:xfrm>
            <a:off x="708285" y="1333500"/>
            <a:ext cx="16261829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Region</a:t>
            </a:r>
            <a:r>
              <a:rPr lang="en-US" sz="4500" dirty="0"/>
              <a:t> – the geographic region or country where the EV data is reported.</a:t>
            </a:r>
          </a:p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Category</a:t>
            </a:r>
            <a:r>
              <a:rPr lang="en-US" sz="4500" dirty="0"/>
              <a:t> – the type of vehicle (E.g., Cars, buses, 2-wheelers, trucks).</a:t>
            </a:r>
          </a:p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Parameter</a:t>
            </a:r>
            <a:r>
              <a:rPr lang="en-US" sz="4500" dirty="0"/>
              <a:t> – the measured metric (E.g., Stock, sales, energy use).</a:t>
            </a:r>
          </a:p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Mode</a:t>
            </a:r>
            <a:r>
              <a:rPr lang="en-US" sz="4500" dirty="0"/>
              <a:t> – the transport mode (E.g., Road, rail, etc.).</a:t>
            </a:r>
          </a:p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Powertrain</a:t>
            </a:r>
            <a:r>
              <a:rPr lang="en-US" sz="4500" dirty="0"/>
              <a:t> – the type of </a:t>
            </a:r>
            <a:r>
              <a:rPr lang="en-US" sz="4500" dirty="0" err="1"/>
              <a:t>ev</a:t>
            </a:r>
            <a:r>
              <a:rPr lang="en-US" sz="4500" dirty="0"/>
              <a:t> drivetrain (E.g., Bev, </a:t>
            </a:r>
            <a:r>
              <a:rPr lang="en-US" sz="4500" dirty="0" err="1"/>
              <a:t>Phev</a:t>
            </a:r>
            <a:r>
              <a:rPr lang="en-US" sz="4500" dirty="0"/>
              <a:t>, </a:t>
            </a:r>
            <a:r>
              <a:rPr lang="en-US" sz="4500" dirty="0" err="1"/>
              <a:t>fcev</a:t>
            </a:r>
            <a:r>
              <a:rPr lang="en-US" sz="4500" dirty="0"/>
              <a:t>).</a:t>
            </a:r>
          </a:p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Year</a:t>
            </a:r>
            <a:r>
              <a:rPr lang="en-US" sz="4500" dirty="0"/>
              <a:t> – the calendar year for which the data is recorded.</a:t>
            </a:r>
          </a:p>
          <a:p>
            <a:pPr marL="685800" indent="-685800" fontAlgn="base">
              <a:buFont typeface="Wingdings" panose="05000000000000000000" pitchFamily="2" charset="2"/>
              <a:buChar char="Ø"/>
            </a:pPr>
            <a:r>
              <a:rPr lang="en-US" sz="4500" b="1" dirty="0"/>
              <a:t>Unit</a:t>
            </a:r>
            <a:r>
              <a:rPr lang="en-US" sz="4500" dirty="0"/>
              <a:t> – the unit of measurement (E.g., Number of vehicles, </a:t>
            </a:r>
            <a:r>
              <a:rPr lang="en-US" sz="4500" dirty="0" err="1"/>
              <a:t>twh</a:t>
            </a:r>
            <a:r>
              <a:rPr lang="en-US" sz="4500" dirty="0"/>
              <a:t>).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500" b="1" dirty="0"/>
              <a:t>Value</a:t>
            </a:r>
            <a:r>
              <a:rPr lang="en-US" sz="4500" dirty="0"/>
              <a:t> – the numeric value of the recorded parameter.</a:t>
            </a:r>
            <a:endParaRPr lang="en-IN" sz="45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43C54E-86B0-C172-A582-DC2C10410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800" y="9213690"/>
            <a:ext cx="6305550" cy="8542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FF21A1-EE00-410E-9090-E0D574AD6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53"/>
            <a:ext cx="18302162" cy="1027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29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FA167-EE1D-9307-28C0-E46906B66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700"/>
            <a:ext cx="18760010" cy="1055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9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3C158-6CA4-1CEF-D2BB-EE9E226A6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26"/>
            <a:ext cx="18307287" cy="102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E3853-DFD6-E993-BC27-7691E8D94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2450" y="-272955"/>
            <a:ext cx="18750450" cy="1055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2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5374B0-7CAD-70E4-4EA1-E8B38D7084EB}"/>
              </a:ext>
            </a:extLst>
          </p:cNvPr>
          <p:cNvSpPr txBox="1"/>
          <p:nvPr/>
        </p:nvSpPr>
        <p:spPr>
          <a:xfrm>
            <a:off x="495300" y="190500"/>
            <a:ext cx="17297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00B050"/>
                </a:solidFill>
                <a:latin typeface="Algerian" panose="04020705040A02060702" pitchFamily="82" charset="0"/>
              </a:rPr>
              <a:t>Insights</a:t>
            </a:r>
            <a:endParaRPr lang="en-IN" sz="66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7CD0C-EF52-EF9C-0B5B-87257E2C86A4}"/>
              </a:ext>
            </a:extLst>
          </p:cNvPr>
          <p:cNvSpPr txBox="1"/>
          <p:nvPr/>
        </p:nvSpPr>
        <p:spPr>
          <a:xfrm>
            <a:off x="838200" y="1298496"/>
            <a:ext cx="169545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b="1" dirty="0"/>
              <a:t>Strong exponential growth</a:t>
            </a:r>
            <a:r>
              <a:rPr lang="en-US" sz="4800" dirty="0"/>
              <a:t> in EV adoption after </a:t>
            </a:r>
            <a:r>
              <a:rPr lang="en-US" sz="4800" b="1" dirty="0"/>
              <a:t>2018</a:t>
            </a:r>
            <a:r>
              <a:rPr lang="en-US" sz="3600" b="1" dirty="0"/>
              <a:t>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b="1" dirty="0"/>
              <a:t>China, Europe, and the USA</a:t>
            </a:r>
            <a:r>
              <a:rPr lang="en-US" sz="4800" dirty="0"/>
              <a:t> dominate global EV stock and sales.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b="1" dirty="0"/>
              <a:t>Passenger cars</a:t>
            </a:r>
            <a:r>
              <a:rPr lang="en-US" sz="4800" dirty="0"/>
              <a:t> account for the largest share of EV adoption.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b="1" dirty="0"/>
              <a:t>BEVs</a:t>
            </a:r>
            <a:r>
              <a:rPr lang="en-US" sz="4800" dirty="0"/>
              <a:t> are growing faster than </a:t>
            </a:r>
            <a:r>
              <a:rPr lang="en-US" sz="4800" b="1" dirty="0"/>
              <a:t>PHEVs</a:t>
            </a:r>
            <a:r>
              <a:rPr lang="en-US" sz="4800" dirty="0"/>
              <a:t>, indicating a shift toward full electrification.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b="1" dirty="0"/>
              <a:t>Buses and 2-wheelers</a:t>
            </a:r>
            <a:r>
              <a:rPr lang="en-US" sz="4800" dirty="0"/>
              <a:t> show high adoption in specific regions due to public transport policies.</a:t>
            </a:r>
          </a:p>
          <a:p>
            <a:endParaRPr lang="en-IN" sz="4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396057-F21A-01E3-2BA5-9315C2EC1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9029699"/>
            <a:ext cx="65341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3822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B9B94D-676C-1733-3ACC-D6728930BCA4}"/>
              </a:ext>
            </a:extLst>
          </p:cNvPr>
          <p:cNvSpPr txBox="1"/>
          <p:nvPr/>
        </p:nvSpPr>
        <p:spPr>
          <a:xfrm>
            <a:off x="533400" y="419100"/>
            <a:ext cx="1691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rgbClr val="00B050"/>
                </a:solidFill>
                <a:latin typeface="Algerian" panose="04020705040A02060702" pitchFamily="82" charset="0"/>
              </a:rPr>
              <a:t> 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318DA-260E-16FA-A656-CC866D1A2353}"/>
              </a:ext>
            </a:extLst>
          </p:cNvPr>
          <p:cNvSpPr txBox="1"/>
          <p:nvPr/>
        </p:nvSpPr>
        <p:spPr>
          <a:xfrm>
            <a:off x="685800" y="1845129"/>
            <a:ext cx="169164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The IEA Global EV dataset highlights the rapid global transition toward electric mobility, with strong regional dominance, increasing preference for BEVs, and significant growth driven by policy and technological advancements</a:t>
            </a:r>
            <a:r>
              <a:rPr lang="en-US" sz="4000" dirty="0"/>
              <a:t>.</a:t>
            </a:r>
            <a:endParaRPr lang="en-IN"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3C47CA-A90E-E824-D643-AD80B76AD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9029699"/>
            <a:ext cx="65341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95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084E4-031F-BE4B-19A0-785F8248B164}"/>
              </a:ext>
            </a:extLst>
          </p:cNvPr>
          <p:cNvSpPr txBox="1"/>
          <p:nvPr/>
        </p:nvSpPr>
        <p:spPr>
          <a:xfrm>
            <a:off x="762000" y="571500"/>
            <a:ext cx="16535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00B050"/>
                </a:solidFill>
                <a:latin typeface="Algerian" panose="04020705040A02060702" pitchFamily="82" charset="0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BDA61-B85D-8D47-BBA9-B1F20C8CF655}"/>
              </a:ext>
            </a:extLst>
          </p:cNvPr>
          <p:cNvSpPr txBox="1"/>
          <p:nvPr/>
        </p:nvSpPr>
        <p:spPr>
          <a:xfrm>
            <a:off x="762000" y="1790700"/>
            <a:ext cx="17145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6000" b="1" dirty="0"/>
              <a:t>Expand charging infrastructure</a:t>
            </a:r>
            <a:r>
              <a:rPr lang="en-US" sz="6000" dirty="0"/>
              <a:t> to support rapid EV adoption, especially in emerging regions.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6000" b="1" dirty="0"/>
              <a:t>Prioritize Battery Electric Vehicles (BEVs)</a:t>
            </a:r>
            <a:r>
              <a:rPr lang="en-US" sz="6000" dirty="0"/>
              <a:t> through stronger incentives and policy support.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6000" b="1" dirty="0"/>
              <a:t>Electrify public and commercial transport</a:t>
            </a:r>
            <a:r>
              <a:rPr lang="en-US" sz="6000" dirty="0"/>
              <a:t> such as buses and fleet vehicles.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6000" b="1" dirty="0"/>
              <a:t>Adopt region-specific EV policies</a:t>
            </a:r>
            <a:r>
              <a:rPr lang="en-US" sz="6000" dirty="0"/>
              <a:t> based on infrastructure and adoption maturity.</a:t>
            </a:r>
          </a:p>
          <a:p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AE1A8-09C4-218B-7532-7585ACB04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200" y="9150775"/>
            <a:ext cx="5772150" cy="91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3207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564646" y="821953"/>
            <a:ext cx="4583015" cy="8032825"/>
            <a:chOff x="0" y="0"/>
            <a:chExt cx="1183774" cy="20748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3774" cy="2074846"/>
            </a:xfrm>
            <a:custGeom>
              <a:avLst/>
              <a:gdLst/>
              <a:ahLst/>
              <a:cxnLst/>
              <a:rect l="l" t="t" r="r" b="b"/>
              <a:pathLst>
                <a:path w="1183774" h="2074846">
                  <a:moveTo>
                    <a:pt x="101356" y="0"/>
                  </a:moveTo>
                  <a:lnTo>
                    <a:pt x="1082418" y="0"/>
                  </a:lnTo>
                  <a:cubicBezTo>
                    <a:pt x="1138396" y="0"/>
                    <a:pt x="1183774" y="45379"/>
                    <a:pt x="1183774" y="101356"/>
                  </a:cubicBezTo>
                  <a:lnTo>
                    <a:pt x="1183774" y="1973490"/>
                  </a:lnTo>
                  <a:cubicBezTo>
                    <a:pt x="1183774" y="2029467"/>
                    <a:pt x="1138396" y="2074846"/>
                    <a:pt x="1082418" y="2074846"/>
                  </a:cubicBezTo>
                  <a:lnTo>
                    <a:pt x="101356" y="2074846"/>
                  </a:lnTo>
                  <a:cubicBezTo>
                    <a:pt x="74475" y="2074846"/>
                    <a:pt x="48694" y="2064167"/>
                    <a:pt x="29686" y="2045160"/>
                  </a:cubicBezTo>
                  <a:cubicBezTo>
                    <a:pt x="10679" y="2026152"/>
                    <a:pt x="0" y="2000372"/>
                    <a:pt x="0" y="1973490"/>
                  </a:cubicBezTo>
                  <a:lnTo>
                    <a:pt x="0" y="101356"/>
                  </a:lnTo>
                  <a:cubicBezTo>
                    <a:pt x="0" y="45379"/>
                    <a:pt x="45379" y="0"/>
                    <a:pt x="1013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B58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83774" cy="2112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39271" y="1042175"/>
            <a:ext cx="5329489" cy="8229600"/>
            <a:chOff x="0" y="0"/>
            <a:chExt cx="411226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12260" cy="6350000"/>
            </a:xfrm>
            <a:custGeom>
              <a:avLst/>
              <a:gdLst/>
              <a:ahLst/>
              <a:cxnLst/>
              <a:rect l="l" t="t" r="r" b="b"/>
              <a:pathLst>
                <a:path w="4112260" h="6350000">
                  <a:moveTo>
                    <a:pt x="4112260" y="623570"/>
                  </a:moveTo>
                  <a:lnTo>
                    <a:pt x="4112260" y="2641600"/>
                  </a:lnTo>
                  <a:cubicBezTo>
                    <a:pt x="4112260" y="2821940"/>
                    <a:pt x="4033520" y="2993390"/>
                    <a:pt x="3897630" y="3112770"/>
                  </a:cubicBezTo>
                  <a:cubicBezTo>
                    <a:pt x="3761740" y="3230880"/>
                    <a:pt x="3683000" y="3402330"/>
                    <a:pt x="3683000" y="3583940"/>
                  </a:cubicBezTo>
                  <a:lnTo>
                    <a:pt x="3683000" y="5726430"/>
                  </a:lnTo>
                  <a:cubicBezTo>
                    <a:pt x="3683000" y="6070600"/>
                    <a:pt x="3403600" y="6350000"/>
                    <a:pt x="3059430" y="6350000"/>
                  </a:cubicBezTo>
                  <a:lnTo>
                    <a:pt x="623570" y="6350000"/>
                  </a:lnTo>
                  <a:cubicBezTo>
                    <a:pt x="279400" y="6350000"/>
                    <a:pt x="0" y="6070600"/>
                    <a:pt x="0" y="5726430"/>
                  </a:cubicBezTo>
                  <a:lnTo>
                    <a:pt x="0" y="623570"/>
                  </a:lnTo>
                  <a:cubicBezTo>
                    <a:pt x="0" y="279400"/>
                    <a:pt x="279400" y="0"/>
                    <a:pt x="623570" y="0"/>
                  </a:cubicBezTo>
                  <a:lnTo>
                    <a:pt x="3489960" y="0"/>
                  </a:lnTo>
                  <a:cubicBezTo>
                    <a:pt x="3834130" y="0"/>
                    <a:pt x="4112260" y="279400"/>
                    <a:pt x="4112260" y="623570"/>
                  </a:cubicBezTo>
                  <a:close/>
                </a:path>
              </a:pathLst>
            </a:custGeom>
            <a:blipFill>
              <a:blip r:embed="rId2"/>
              <a:stretch>
                <a:fillRect l="-101975" r="-2979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151612" y="1889921"/>
            <a:ext cx="6571742" cy="329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52"/>
              </a:lnSpc>
            </a:pPr>
            <a:r>
              <a:rPr lang="en-US" sz="12752">
                <a:solidFill>
                  <a:srgbClr val="0B132B"/>
                </a:solidFill>
                <a:latin typeface="Rubik One"/>
                <a:ea typeface="Rubik One"/>
                <a:cs typeface="Rubik One"/>
                <a:sym typeface="Rubik One"/>
              </a:rPr>
              <a:t>Thank You!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67092" y="8556928"/>
            <a:ext cx="1524178" cy="27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 spc="39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571ABF-68E9-64EF-8461-11A7D9FED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061"/>
                    </a14:imgEffect>
                    <a14:imgEffect>
                      <a14:saturation sat="1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9029700"/>
            <a:ext cx="7206502" cy="1038225"/>
          </a:xfrm>
          <a:prstGeom prst="rect">
            <a:avLst/>
          </a:prstGeom>
        </p:spPr>
      </p:pic>
      <p:sp>
        <p:nvSpPr>
          <p:cNvPr id="3" name="Freeform 18">
            <a:extLst>
              <a:ext uri="{FF2B5EF4-FFF2-40B4-BE49-F238E27FC236}">
                <a16:creationId xmlns:a16="http://schemas.microsoft.com/office/drawing/2014/main" id="{2853AD1A-C2A1-B2C0-6BE1-C7104F6EB15A}"/>
              </a:ext>
            </a:extLst>
          </p:cNvPr>
          <p:cNvSpPr/>
          <p:nvPr/>
        </p:nvSpPr>
        <p:spPr>
          <a:xfrm>
            <a:off x="14630400" y="3486897"/>
            <a:ext cx="1604438" cy="1277716"/>
          </a:xfrm>
          <a:custGeom>
            <a:avLst/>
            <a:gdLst/>
            <a:ahLst/>
            <a:cxnLst/>
            <a:rect l="l" t="t" r="r" b="b"/>
            <a:pathLst>
              <a:path w="1604438" h="1277716">
                <a:moveTo>
                  <a:pt x="0" y="0"/>
                </a:moveTo>
                <a:lnTo>
                  <a:pt x="1604438" y="0"/>
                </a:lnTo>
                <a:lnTo>
                  <a:pt x="1604438" y="1277716"/>
                </a:lnTo>
                <a:lnTo>
                  <a:pt x="0" y="1277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wip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E8B826"/>
      </a:accent1>
      <a:accent2>
        <a:srgbClr val="E2CA72"/>
      </a:accent2>
      <a:accent3>
        <a:srgbClr val="BD723B"/>
      </a:accent3>
      <a:accent4>
        <a:srgbClr val="AE9376"/>
      </a:accent4>
      <a:accent5>
        <a:srgbClr val="A77F41"/>
      </a:accent5>
      <a:accent6>
        <a:srgbClr val="A1AE79"/>
      </a:accent6>
      <a:hlink>
        <a:srgbClr val="F1D06A"/>
      </a:hlink>
      <a:folHlink>
        <a:srgbClr val="EDDCA8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D5CBAF11-69B7-47EA-BC01-41F77058C2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</TotalTime>
  <Words>483</Words>
  <Application>Microsoft Office PowerPoint</Application>
  <PresentationFormat>Custom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Calibri Light</vt:lpstr>
      <vt:lpstr>Algerian</vt:lpstr>
      <vt:lpstr>Wingdings 2</vt:lpstr>
      <vt:lpstr>Rubik One</vt:lpstr>
      <vt:lpstr>Wingdings</vt:lpstr>
      <vt:lpstr>Times New Roman</vt:lpstr>
      <vt:lpstr>Calibri</vt:lpstr>
      <vt:lpstr>Arial</vt:lpstr>
      <vt:lpstr>Bricolage Grotesque Bold</vt:lpstr>
      <vt:lpstr>Calisto MT</vt:lpstr>
      <vt:lpstr>Office Theme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Teal Modern Electric Car Presentation</dc:title>
  <cp:lastModifiedBy>IQ</cp:lastModifiedBy>
  <cp:revision>16</cp:revision>
  <dcterms:created xsi:type="dcterms:W3CDTF">2006-08-16T00:00:00Z</dcterms:created>
  <dcterms:modified xsi:type="dcterms:W3CDTF">2026-01-07T06:53:11Z</dcterms:modified>
  <dc:identifier>DAG834YtmBE</dc:identifier>
</cp:coreProperties>
</file>